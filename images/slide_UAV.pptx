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45A0EA-6F8A-4009-894B-3695C2C78D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CDDF52-537E-4313-AD3D-2F72B0A4A9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2667CC-2297-4567-B0A2-0E2A2C3A6E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2A76D3-A060-4C56-A9F1-A9C6F713B9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DB304F-F978-4589-8A57-14135A86BD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CA379A-624A-4713-9736-24E365832C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A2CD5E-8838-463E-B29F-58E67F62C6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6F8141-8083-410E-9C1A-D64D46B208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8E8D88-AC10-4D68-A769-B395DD6CCE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F6F53A-AF6C-4CBE-9F70-55B8CD9E9A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A5627C-8F45-4DDE-8239-31C87A888D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0448D8-287C-46DE-91B1-91E71F646D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80A4B7-A192-4FA6-8600-B74932E613F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2" name="Group 3"/>
          <p:cNvGrpSpPr/>
          <p:nvPr/>
        </p:nvGrpSpPr>
        <p:grpSpPr>
          <a:xfrm>
            <a:off x="-379440" y="-144720"/>
            <a:ext cx="3085560" cy="10431000"/>
            <a:chOff x="-379440" y="-144720"/>
            <a:chExt cx="3085560" cy="10431000"/>
          </a:xfrm>
        </p:grpSpPr>
        <p:sp>
          <p:nvSpPr>
            <p:cNvPr id="43" name="Freeform 4"/>
            <p:cNvSpPr/>
            <p:nvPr/>
          </p:nvSpPr>
          <p:spPr>
            <a:xfrm>
              <a:off x="-379440" y="0"/>
              <a:ext cx="3085560" cy="10286280"/>
            </a:xfrm>
            <a:custGeom>
              <a:avLst/>
              <a:gdLst/>
              <a:ah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88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TextBox 5"/>
            <p:cNvSpPr/>
            <p:nvPr/>
          </p:nvSpPr>
          <p:spPr>
            <a:xfrm>
              <a:off x="-379440" y="-144720"/>
              <a:ext cx="308556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5" name="TextBox 6"/>
          <p:cNvSpPr/>
          <p:nvPr/>
        </p:nvSpPr>
        <p:spPr>
          <a:xfrm>
            <a:off x="3886200" y="3853800"/>
            <a:ext cx="13487400" cy="15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70"/>
              </a:lnSpc>
              <a:buNone/>
              <a:tabLst>
                <a:tab algn="l" pos="0"/>
              </a:tabLst>
            </a:pPr>
            <a:r>
              <a:rPr b="1" lang="en-US" sz="3000" spc="145" strike="noStrike">
                <a:solidFill>
                  <a:srgbClr val="342a06"/>
                </a:solidFill>
                <a:latin typeface="Times New Roman"/>
                <a:ea typeface="Times New Roman Bold"/>
              </a:rPr>
              <a:t>УЧЕБНО-ИССЛЕДОВАТЕЛЬСКИЙ СТЕНД НА ОСНОВЕ 3D-ПЕЧАТНОГО КВАДРОКОПТЕРА</a:t>
            </a:r>
            <a:endParaRPr b="0" lang="en-US" sz="3000" spc="-1" strike="noStrike">
              <a:solidFill>
                <a:srgbClr val="342a06"/>
              </a:solidFill>
              <a:latin typeface="Times New Roman"/>
            </a:endParaRPr>
          </a:p>
          <a:p>
            <a:pPr algn="ctr">
              <a:lnSpc>
                <a:spcPts val="4170"/>
              </a:lnSpc>
              <a:buNone/>
              <a:tabLst>
                <a:tab algn="l" pos="0"/>
              </a:tabLst>
            </a:pPr>
            <a:r>
              <a:rPr b="1" lang="en-US" sz="3000" spc="145" strike="noStrike">
                <a:solidFill>
                  <a:srgbClr val="342a06"/>
                </a:solidFill>
                <a:latin typeface="Times New Roman"/>
                <a:ea typeface="Times New Roman Bold"/>
              </a:rPr>
              <a:t> </a:t>
            </a:r>
            <a:r>
              <a:rPr b="1" lang="en-US" sz="3000" spc="145" strike="noStrike">
                <a:solidFill>
                  <a:srgbClr val="342a06"/>
                </a:solidFill>
                <a:latin typeface="Times New Roman"/>
                <a:ea typeface="Times New Roman Bold"/>
              </a:rPr>
              <a:t>ДЛЯ ОТРАБОТКИ СИСТЕМ УПРАВЛЕНИЯ И ИСПЫТАНИЙ БПЛА</a:t>
            </a:r>
            <a:endParaRPr b="0" lang="en-US" sz="3000" spc="-1" strike="noStrike">
              <a:solidFill>
                <a:srgbClr val="342a06"/>
              </a:solidFill>
              <a:latin typeface="Times New Roman"/>
            </a:endParaRPr>
          </a:p>
        </p:txBody>
      </p:sp>
      <p:sp>
        <p:nvSpPr>
          <p:cNvPr id="46" name="TextBox 7"/>
          <p:cNvSpPr/>
          <p:nvPr/>
        </p:nvSpPr>
        <p:spPr>
          <a:xfrm>
            <a:off x="5029200" y="6328800"/>
            <a:ext cx="114152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70"/>
              </a:lnSpc>
              <a:buNone/>
              <a:tabLst>
                <a:tab algn="l" pos="0"/>
              </a:tabLst>
            </a:pPr>
            <a:r>
              <a:rPr b="1" lang="en-US" sz="3000" spc="145" strike="noStrike">
                <a:solidFill>
                  <a:srgbClr val="342a06"/>
                </a:solidFill>
                <a:latin typeface="Times New Roman"/>
                <a:ea typeface="Times New Roman Bold"/>
              </a:rPr>
              <a:t>ТОМСКИЙ ПОЛИТЕХНИЧЕСКИЙ УНИВЕРСИТЕТ</a:t>
            </a:r>
            <a:endParaRPr b="0" lang="en-US" sz="3000" spc="-1" strike="noStrike">
              <a:solidFill>
                <a:srgbClr val="342a06"/>
              </a:solidFill>
              <a:latin typeface="Times New Roman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4800600" y="7471800"/>
            <a:ext cx="114152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70"/>
              </a:lnSpc>
              <a:buNone/>
              <a:tabLst>
                <a:tab algn="l" pos="0"/>
              </a:tabLst>
            </a:pPr>
            <a:r>
              <a:rPr b="1" lang="en-US" sz="3000" spc="145" strike="noStrike">
                <a:solidFill>
                  <a:srgbClr val="342a06"/>
                </a:solidFill>
                <a:latin typeface="Times New Roman"/>
                <a:ea typeface="Times New Roman Bold"/>
              </a:rPr>
              <a:t>Фам Чонг Хай</a:t>
            </a:r>
            <a:endParaRPr b="0" lang="en-US" sz="3000" spc="-1" strike="noStrike">
              <a:solidFill>
                <a:srgbClr val="342a06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2"/>
          <p:cNvSpPr/>
          <p:nvPr/>
        </p:nvSpPr>
        <p:spPr>
          <a:xfrm>
            <a:off x="254880" y="162720"/>
            <a:ext cx="17869680" cy="13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170"/>
              </a:lnSpc>
              <a:buNone/>
            </a:pPr>
            <a:r>
              <a:rPr b="1" lang="en-US" sz="3000" spc="145" strike="noStrike">
                <a:solidFill>
                  <a:srgbClr val="000000"/>
                </a:solidFill>
                <a:latin typeface="Times New Roman"/>
                <a:ea typeface="Times New Roman Bold"/>
              </a:rPr>
              <a:t>ОПИСАНИЕ ПРОЕКТА:</a:t>
            </a:r>
            <a:endParaRPr b="0" lang="en-US" sz="3000" spc="-1" strike="noStrike">
              <a:latin typeface="Times New Roman"/>
            </a:endParaRPr>
          </a:p>
          <a:p>
            <a:pPr>
              <a:lnSpc>
                <a:spcPts val="3056"/>
              </a:lnSpc>
              <a:buNone/>
            </a:pPr>
            <a:r>
              <a:rPr b="1" lang="en-US" sz="2200" spc="103" strike="noStrike">
                <a:solidFill>
                  <a:srgbClr val="000000"/>
                </a:solidFill>
                <a:latin typeface="Times New Roman"/>
                <a:ea typeface="Times New Roman Bold"/>
              </a:rPr>
              <a:t> </a:t>
            </a:r>
            <a:r>
              <a:rPr b="1" lang="en-US" sz="2200" spc="103" strike="noStrike">
                <a:solidFill>
                  <a:srgbClr val="000000"/>
                </a:solidFill>
                <a:latin typeface="Times New Roman"/>
                <a:ea typeface="Times New Roman Bold"/>
              </a:rPr>
              <a:t>УЧЕБНО-ИССЛЕДОВАТЕЛЬСКИЙ СТЕНД НА ОСНОВЕ 3D-ПЕЧАТНОГО КВАДРОКОПТЕРА</a:t>
            </a:r>
            <a:endParaRPr b="0" lang="en-US" sz="2200" spc="-1" strike="noStrike">
              <a:latin typeface="Times New Roman"/>
            </a:endParaRPr>
          </a:p>
          <a:p>
            <a:pPr>
              <a:lnSpc>
                <a:spcPts val="3056"/>
              </a:lnSpc>
              <a:buNone/>
            </a:pPr>
            <a:r>
              <a:rPr b="1" lang="en-US" sz="2200" spc="103" strike="noStrike">
                <a:solidFill>
                  <a:srgbClr val="000000"/>
                </a:solidFill>
                <a:latin typeface="Times New Roman"/>
                <a:ea typeface="Times New Roman Bold"/>
              </a:rPr>
              <a:t> </a:t>
            </a:r>
            <a:r>
              <a:rPr b="1" lang="en-US" sz="2200" spc="103" strike="noStrike">
                <a:solidFill>
                  <a:srgbClr val="000000"/>
                </a:solidFill>
                <a:latin typeface="Times New Roman"/>
                <a:ea typeface="Times New Roman Bold"/>
              </a:rPr>
              <a:t>ДЛЯ ОТРАБОТКИ СИСТЕМ УПРАВЛЕНИЯ И ИСПЫТАНИЙ БПЛА</a:t>
            </a:r>
            <a:endParaRPr b="0" lang="en-US" sz="2200" spc="-1" strike="noStrike">
              <a:latin typeface="Times New Roman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254880" y="1735920"/>
            <a:ext cx="17804520" cy="74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2801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Проект включает в себя разработку аппаратно-программного комплекса лабораторного оборудования и учебно-методических материалов для изучения систем управления квадрокоптером как типовым сложным объектом. Целью проекта является преодоление разрыва между теоретическим изучением дисциплины «Теория автоматического управления» (ТАУ) и практической реализацией алгоритмов управления на реальном объекте, а также формирование у студентов и магистрантов устойчивых интуитивных навыков синтеза и настройки регуляторов в задачах АСУТП и управления БПЛА.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801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Лабораторный стенд строится на базе специально разработанного 3D-печатного корпуса квадрокоптера с бесколлекторными электродвигателями, датчиками ориентации гироскопа и акселерометра  (IMU-6050) и микроконтроллером ESP-32, закреплённого на стационарной испытательной установке. Такая конфигурация позволяет имитировать основные режимы полёта и фиксированные движения летательного аппарата при полном отсутствии риска падения и повреждения оборудования, а также обеспечивает воспроизводимость экспериментов. Использование доступных комплектующих и аддитивных технологий существенно снижает стоимость комплекса, делая его пригодным для тиражирования в учебных заведениях.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801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В рамках курса на базе стенда последовательно рассматриваются этапы построения математической модели квадрокоптера, выбора структуры системы управления, синтеза и настройки регуляторов, а также анализа устойчивости и качества переходных процессов. Существенная часть материала представлена в виде лабораторных работ и практических заданий, включающих стабилизацию ориентации, отработку заданных траекторий, исследование влияния помех и вибраций на работу системы и также методы фильтрации. Это позволяет обучающимся не только применять классические методы ТАУ, но и осваивать современные подходы к управлению многомерными и существенно нелинейными объектами.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801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Обучение ведётся на примерах, максимально приближенных к реальным задачам разработки и отладки бортовых систем управления беспилотных летательных аппаратов. Открытая архитектура аппаратной и программной части комплекса предоставляет возможность интеграции дополнительных датчиков и алгоритмов, что делает стенд удобной платформой как для учебных целей, так и для выполнения научно-исследовательских и проектных работ в области БПЛА и автоматизации.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801"/>
              </a:lnSpc>
              <a:buNone/>
            </a:pPr>
            <a:endParaRPr b="0" lang="en-US" sz="2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2"/>
          <p:cNvSpPr/>
          <p:nvPr/>
        </p:nvSpPr>
        <p:spPr>
          <a:xfrm>
            <a:off x="254880" y="153360"/>
            <a:ext cx="178696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864"/>
              </a:lnSpc>
              <a:buNone/>
            </a:pPr>
            <a:r>
              <a:rPr b="1" lang="en-US" sz="3500" spc="171" strike="noStrike">
                <a:solidFill>
                  <a:srgbClr val="000000"/>
                </a:solidFill>
                <a:latin typeface="Times New Roman"/>
                <a:ea typeface="Times New Roman Bold"/>
              </a:rPr>
              <a:t>ОЖИДАЕМЫЕ РЕЗУЛЬТАТЫ</a:t>
            </a:r>
            <a:endParaRPr b="0" lang="en-US" sz="3500" spc="-1" strike="noStrike">
              <a:latin typeface="Times New Roman"/>
            </a:endParaRPr>
          </a:p>
        </p:txBody>
      </p:sp>
      <p:sp>
        <p:nvSpPr>
          <p:cNvPr id="51" name="TextBox 3"/>
          <p:cNvSpPr/>
          <p:nvPr/>
        </p:nvSpPr>
        <p:spPr>
          <a:xfrm>
            <a:off x="355320" y="1029240"/>
            <a:ext cx="17704080" cy="9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2767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Проект представляет собой образовательный продукт. Он служит практической лабораторией, где студенты и магистранты получают возможность испытать теоретические знания на реальном объекте. Практико-ориентированный подход стимулирует глубину понимания: абстрактные модели превращаются в наглядный опыт. Мы ожидаем результаты в следующих аспектах: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767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Noto Sans Bold"/>
              </a:rPr>
              <a:t>Образовательные результаты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Укрепление связи теории с практикой: студенты и магистранты разрабатывают и программируют собственные алгоритмы ориентации и стабилизации квадрокоптера, наблюдая их работу на стенде в безопасных условиях (в том числе настройку и отладку ПИД-регуляторов по углам).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Повышение качества подготовки бакалавров и магистрантов по направлениям «Автоматическое управление», «Мехатроника и робототехника», «АСУТП» за счёт включения квадрокоптера-стенда в учебные курсы, что повышает мотивацию и обеспечивает более глубокое усвоение теоретического материала.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Формирование практических компетенций по выбору структуры регулятора, настройке его параметров, работе с шумными сигналами датчиков и учёту ограничений исполнительных органов.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Создание тиражируемого учебно-методического комплекса (лабораторные работы, типовые задания, примеры кода контроллера, рекомендации по 3D-печатным моделям), пригодного для внедрения в других вузах.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767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Noto Sans Bold"/>
              </a:rPr>
              <a:t>Научно-технические результаты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Отработка и сравнительный анализ различных контуров управления (PID, каскадных, оптимальных, робастных и др.) на единой экспериментальной базе с регистрацией логов для отображения переходных процессов и последующим анализом.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Определение влияния конструктивных особенностей 3D-печатного корпуса и вибраций двигателей на качество управления и выработка рекомендаций по их компенсации.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Подготовка выпускных квалификационных работ и магистерских диссертаций, посвящённых разработке и исследованию алгоритмов управления БПЛА на созданном стенде.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767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Noto Sans Bold"/>
              </a:rPr>
              <a:t>Практическая значимость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Снижение числа аварийных испытаний новых алгоритмов управления и конструкций квадрокоптеров за счёт их предварительной обкатки на стенде.</a:t>
            </a:r>
            <a:endParaRPr b="0" lang="en-US" sz="2200" spc="-1" strike="noStrike">
              <a:latin typeface="Times New Roman"/>
            </a:endParaRPr>
          </a:p>
          <a:p>
            <a:pPr lvl="1" marL="426600" indent="-213480" algn="just">
              <a:lnSpc>
                <a:spcPts val="2767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Использование комплекса в качестве базовой платформы для проектных школ и инженерных конкурсов в области беспилотных систем.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767"/>
              </a:lnSpc>
              <a:buNone/>
            </a:pP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767"/>
              </a:lnSpc>
              <a:buNone/>
            </a:pPr>
            <a:endParaRPr b="0" lang="en-US" sz="2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2"/>
          <p:cNvSpPr/>
          <p:nvPr/>
        </p:nvSpPr>
        <p:spPr>
          <a:xfrm>
            <a:off x="254880" y="153360"/>
            <a:ext cx="178696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864"/>
              </a:lnSpc>
              <a:buNone/>
            </a:pPr>
            <a:r>
              <a:rPr b="1" lang="en-US" sz="3500" spc="171" strike="noStrike">
                <a:solidFill>
                  <a:srgbClr val="000000"/>
                </a:solidFill>
                <a:latin typeface="Times New Roman"/>
                <a:ea typeface="Times New Roman Bold"/>
              </a:rPr>
              <a:t>ПОТЕНЦИАЛ ДЛЯ СОТРУДНИЧЕСТВА</a:t>
            </a:r>
            <a:endParaRPr b="0" lang="en-US" sz="3500" spc="-1" strike="noStrike">
              <a:latin typeface="Times New Roman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254880" y="1212840"/>
            <a:ext cx="17804520" cy="46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2801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Разработанный учебно-исследовательский стенд на основе 3D-печатного квадрокоптера может служить основой очных и дистанционных курсов дополнительного образования по современным системам управления и беспилотным летательным аппаратам. Комплекс может использоваться в совместных образовательных программах с вузами-партнёрами, в том числе в формате виртуальных лабораторий и академической мобильности: на первом этапе обучающиеся подключаются к среде моделирования Gazebo для проверки и отладки разработанных алгоритмов, после чего выполняют лабораторные работы на реальной установке в режиме реального времени.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801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Стенд может быть интегрирован в программы повышения квалификации инженеров и разработчиков беспилотных систем, специалистов по АСУТП, мехатронике и робототехнике, в том числе в тех организациях, где отсутствует возможность проведения полноценных лётных экспериментов с квадрокоптерами.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801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"/>
              </a:rPr>
              <a:t>Мы готовы делиться методическими материалами, конструкторской документацией 3D-печатного корпуса и открытым программным обеспечением, а также опытом внедрения стенда в учебный процесс. Это создаёт основу для совместного оснащения лабораторий партнёрских вузов и предприятий, выполнения межвузовских и отраслевых НИР, а также формирования сети экспериментальных площадок по управлению БПЛА на единой технологической платформе.</a:t>
            </a:r>
            <a:endParaRPr b="0" lang="en-US" sz="2200" spc="-1" strike="noStrike">
              <a:latin typeface="Times New Roman"/>
            </a:endParaRPr>
          </a:p>
          <a:p>
            <a:pPr algn="just">
              <a:lnSpc>
                <a:spcPts val="2801"/>
              </a:lnSpc>
              <a:buNone/>
            </a:pPr>
            <a:endParaRPr b="0" lang="en-US" sz="2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DAG55_mcoXA</dc:identifier>
  <dc:language>en-US</dc:language>
  <cp:lastModifiedBy/>
  <dcterms:modified xsi:type="dcterms:W3CDTF">2025-11-28T00:57:08Z</dcterms:modified>
  <cp:revision>3</cp:revision>
  <dc:subject/>
  <dc:title>propuesta de proyecto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